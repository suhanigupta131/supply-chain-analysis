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2" r:id="rId8"/>
    <p:sldId id="267" r:id="rId9"/>
    <p:sldId id="269" r:id="rId10"/>
    <p:sldId id="261" r:id="rId11"/>
    <p:sldId id="27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3" r:id="rId21"/>
    <p:sldId id="264" r:id="rId22"/>
    <p:sldId id="265" r:id="rId23"/>
    <p:sldId id="280" r:id="rId24"/>
    <p:sldId id="26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72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48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70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40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33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50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76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6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1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77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EF9DF23F-F90A-4BF4-BC98-283ABEADA30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19682F35-D9A8-4E5C-80F0-62B2E72FE03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67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9436-CDB2-DA47-5961-272A6C99D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290" y="1166343"/>
            <a:ext cx="7772400" cy="1463040"/>
          </a:xfrm>
        </p:spPr>
        <p:txBody>
          <a:bodyPr/>
          <a:lstStyle/>
          <a:p>
            <a:pPr algn="l"/>
            <a:r>
              <a:rPr lang="en-IN" dirty="0"/>
              <a:t>Title:</a:t>
            </a:r>
            <a:br>
              <a:rPr lang="en-IN" dirty="0"/>
            </a:br>
            <a:r>
              <a:rPr lang="en-IN" dirty="0"/>
              <a:t>CDACL-003: Supply Chain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D84C1-691B-7739-5A8C-84C1954F9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0259" y="4881479"/>
            <a:ext cx="4787418" cy="1463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SUHANI GUPTA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CERTIFIED DATA ANALYST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25</a:t>
            </a:r>
            <a:r>
              <a:rPr lang="en-US" baseline="300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MAY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  <a:endParaRPr lang="en-IN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E047C-9E54-8D40-EE4F-7A554B1B86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550" y="5260637"/>
            <a:ext cx="2776722" cy="862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71948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548"/>
    </mc:Choice>
    <mc:Fallback xmlns="">
      <p:transition advTm="3354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17B0-C97B-120C-7AB3-ACDB361D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BACD-D901-69DF-24E3-5988875B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1"/>
            <a:ext cx="10710672" cy="399423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Diagnostic Performance Mapping:</a:t>
            </a:r>
            <a:r>
              <a:rPr lang="en-US" dirty="0"/>
              <a:t> To conduct an end-to-end analysis of supply chain data to evaluate operational bottlenecks and revenue trends.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Supplier Performance Benchmarking:</a:t>
            </a:r>
            <a:r>
              <a:rPr lang="en-US" dirty="0"/>
              <a:t> To mathematically measure and assess vendor efficiency using critical key performance indicators (KPIs) like lead times and quality benchmarks.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Logistics &amp; Distribution Optimization:</a:t>
            </a:r>
            <a:r>
              <a:rPr lang="en-US" dirty="0"/>
              <a:t> To analyze multi-modal transportation systems (Air, Sea, Road, Rail) to find cost-saving routes and minimize shipping overheads.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Production Quality Economics:</a:t>
            </a:r>
            <a:r>
              <a:rPr lang="en-US" dirty="0"/>
              <a:t> To evaluate the direct correlation between manufacturing cost structures and final component defect rates.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Interactive Business Intelligence:</a:t>
            </a:r>
            <a:r>
              <a:rPr lang="en-US" dirty="0"/>
              <a:t> To architect a dynamic, cloud-connected Power BI dashboard that provides real-time executive storytelling.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Data-Driven Strategic Consulting:</a:t>
            </a:r>
            <a:r>
              <a:rPr lang="en-US" dirty="0"/>
              <a:t> To transform descriptive raw datasets into actionable financial insights that lower expenses and eliminate critical stockouts.</a:t>
            </a:r>
          </a:p>
        </p:txBody>
      </p:sp>
    </p:spTree>
    <p:extLst>
      <p:ext uri="{BB962C8B-B14F-4D97-AF65-F5344CB8AC3E}">
        <p14:creationId xmlns:p14="http://schemas.microsoft.com/office/powerpoint/2010/main" val="109042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3220"/>
    </mc:Choice>
    <mc:Fallback xmlns="">
      <p:transition advTm="4322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056A-BB9F-EC06-FD20-67B184A7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05278-1A11-7DDD-0A77-3CB7CF30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278" y="1335024"/>
            <a:ext cx="8070747" cy="450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1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9268"/>
    </mc:Choice>
    <mc:Fallback xmlns="">
      <p:transition advTm="2926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FE53-DD90-EACD-0AF1-0B0FB8FD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connection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4DE7B-6526-0D7C-7D44-913788CBB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700" y="2058103"/>
            <a:ext cx="5132172" cy="366583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11AF8-AC56-F721-4088-0B77EBE1F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2376269"/>
            <a:ext cx="4449365" cy="30295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01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86"/>
    </mc:Choice>
    <mc:Fallback xmlns="">
      <p:transition spd="slow" advTm="2748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7DC1-CBE5-E963-60D4-08A170CB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F68AA-F3EC-7F59-3FD3-F795449E1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212" y="2251588"/>
            <a:ext cx="4473677" cy="29693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Product type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Revenue generated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Stock levels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Shipping costs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Supplier names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28BE64-0F75-E548-686A-1BF83AD98E54}"/>
              </a:ext>
            </a:extLst>
          </p:cNvPr>
          <p:cNvSpPr txBox="1">
            <a:spLocks/>
          </p:cNvSpPr>
          <p:nvPr/>
        </p:nvSpPr>
        <p:spPr>
          <a:xfrm>
            <a:off x="5974671" y="2399071"/>
            <a:ext cx="4550762" cy="370912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Transportation modes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Manufacturing costs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Defect rates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56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69"/>
    </mc:Choice>
    <mc:Fallback xmlns="">
      <p:transition spd="slow" advTm="2816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DAF9-0077-9549-4861-91868E15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6A1E-EA30-2E3E-C01E-4217371E0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368" y="2251586"/>
            <a:ext cx="4576474" cy="35002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Checked missing values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Removed duplicates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Verified data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Cleaned inconsistent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Saved cleaned CSV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9093E-F0C1-78C6-B3D2-24563C2E5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41" y="1797141"/>
            <a:ext cx="4707578" cy="387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1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8"/>
    </mc:Choice>
    <mc:Fallback xmlns="">
      <p:transition spd="slow" advTm="26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329-FE7B-0CC8-CCE2-F7BE6CE0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AA698-AF20-C756-F9A5-206AF83D4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472104" cy="5260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Revenue by Product Type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B9CE3-3D54-A922-3C20-00F0975FB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947" y="2489653"/>
            <a:ext cx="3145129" cy="271161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D010D-6CC4-51C6-79EB-FBEC918E3203}"/>
              </a:ext>
            </a:extLst>
          </p:cNvPr>
          <p:cNvSpPr txBox="1"/>
          <p:nvPr/>
        </p:nvSpPr>
        <p:spPr>
          <a:xfrm>
            <a:off x="1219200" y="2978726"/>
            <a:ext cx="5140037" cy="2031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31750"/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SELECT ‘Product type’,</a:t>
            </a:r>
          </a:p>
          <a:p>
            <a:r>
              <a:rPr lang="en-US" dirty="0"/>
              <a:t>SUM(‘Revenue generated’) AS </a:t>
            </a:r>
            <a:r>
              <a:rPr lang="en-US" dirty="0" err="1"/>
              <a:t>total_revenue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supply_chain_data</a:t>
            </a:r>
            <a:endParaRPr lang="en-US" dirty="0"/>
          </a:p>
          <a:p>
            <a:r>
              <a:rPr lang="en-US" dirty="0"/>
              <a:t>GROUP BY ‘Product type’</a:t>
            </a:r>
          </a:p>
          <a:p>
            <a:r>
              <a:rPr lang="en-US" dirty="0"/>
              <a:t>ORDER BY </a:t>
            </a:r>
            <a:r>
              <a:rPr lang="en-US" dirty="0" err="1"/>
              <a:t>total_revenue</a:t>
            </a:r>
            <a:r>
              <a:rPr lang="en-US" dirty="0"/>
              <a:t> DESC;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51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B313-ADF3-B6EE-27BC-D217A6BC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71DD3-E83B-9145-9B9A-D2AD653EC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988137"/>
            <a:ext cx="3336245" cy="40634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Supplier Performance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BBEDC-8A6C-EA5D-153C-F3B7E3973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026" y="910681"/>
            <a:ext cx="2790664" cy="23567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27D507-2318-E68C-E8C0-24E3867DAA5D}"/>
              </a:ext>
            </a:extLst>
          </p:cNvPr>
          <p:cNvSpPr txBox="1"/>
          <p:nvPr/>
        </p:nvSpPr>
        <p:spPr>
          <a:xfrm>
            <a:off x="1219200" y="1680863"/>
            <a:ext cx="4876799" cy="14773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SELECT ‘Supplier name’,</a:t>
            </a:r>
          </a:p>
          <a:p>
            <a:r>
              <a:rPr lang="en-US" dirty="0"/>
              <a:t>SUM(‘Revenue generated’) AS revenue</a:t>
            </a:r>
          </a:p>
          <a:p>
            <a:r>
              <a:rPr lang="en-US" dirty="0"/>
              <a:t>FROM </a:t>
            </a:r>
            <a:r>
              <a:rPr lang="en-US" dirty="0" err="1"/>
              <a:t>supply_chain_data</a:t>
            </a:r>
            <a:endParaRPr lang="en-US" dirty="0"/>
          </a:p>
          <a:p>
            <a:r>
              <a:rPr lang="en-US" dirty="0"/>
              <a:t>GROUP BY ‘Supplier name’</a:t>
            </a:r>
          </a:p>
          <a:p>
            <a:r>
              <a:rPr lang="en-US" dirty="0"/>
              <a:t>ORDER BY revenue DESCLIMIT 10;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ADFA79-B1B3-AB70-5C7D-088E77F60E51}"/>
              </a:ext>
            </a:extLst>
          </p:cNvPr>
          <p:cNvSpPr txBox="1">
            <a:spLocks/>
          </p:cNvSpPr>
          <p:nvPr/>
        </p:nvSpPr>
        <p:spPr>
          <a:xfrm>
            <a:off x="1024128" y="3667405"/>
            <a:ext cx="4236131" cy="5800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Transportation Cost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9B80B9-4654-7A1F-925C-CFD4A793C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026" y="4045798"/>
            <a:ext cx="2790664" cy="23567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DBE092-6CAD-2089-675D-53012537D4D8}"/>
              </a:ext>
            </a:extLst>
          </p:cNvPr>
          <p:cNvSpPr txBox="1"/>
          <p:nvPr/>
        </p:nvSpPr>
        <p:spPr>
          <a:xfrm>
            <a:off x="1147734" y="4304070"/>
            <a:ext cx="4948265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SELECT ‘Transportation modes’,</a:t>
            </a:r>
          </a:p>
          <a:p>
            <a:r>
              <a:rPr lang="en-US" dirty="0"/>
              <a:t>AVG(‘Shipping costs’) AS </a:t>
            </a:r>
            <a:r>
              <a:rPr lang="en-US" dirty="0" err="1"/>
              <a:t>avg_cost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supply_chain_data</a:t>
            </a:r>
            <a:endParaRPr lang="en-US" dirty="0"/>
          </a:p>
          <a:p>
            <a:r>
              <a:rPr lang="en-US" dirty="0"/>
              <a:t>GROUP BY ‘Transportation modes’;</a:t>
            </a:r>
          </a:p>
        </p:txBody>
      </p:sp>
    </p:spTree>
    <p:extLst>
      <p:ext uri="{BB962C8B-B14F-4D97-AF65-F5344CB8AC3E}">
        <p14:creationId xmlns:p14="http://schemas.microsoft.com/office/powerpoint/2010/main" val="35939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9306-6BEE-01B9-3F66-DB99ACAA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FB3C9-27F1-1499-92BF-4E0DE5EA4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076631"/>
            <a:ext cx="3448531" cy="4768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Defect Rate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09604-FB1F-83EA-57F1-0967C8BD6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858" y="864600"/>
            <a:ext cx="2713703" cy="22259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C61C6-E71B-507F-9A97-7EB008DD96B0}"/>
              </a:ext>
            </a:extLst>
          </p:cNvPr>
          <p:cNvSpPr txBox="1"/>
          <p:nvPr/>
        </p:nvSpPr>
        <p:spPr>
          <a:xfrm>
            <a:off x="1219200" y="1769357"/>
            <a:ext cx="5140037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SKU,‘Defect</a:t>
            </a:r>
            <a:r>
              <a:rPr lang="en-US" dirty="0"/>
              <a:t> rates’</a:t>
            </a:r>
          </a:p>
          <a:p>
            <a:r>
              <a:rPr lang="en-US" dirty="0"/>
              <a:t>FROM </a:t>
            </a:r>
            <a:r>
              <a:rPr lang="en-US" dirty="0" err="1"/>
              <a:t>supply_chain_data</a:t>
            </a:r>
            <a:endParaRPr lang="en-US" dirty="0"/>
          </a:p>
          <a:p>
            <a:r>
              <a:rPr lang="en-US" dirty="0"/>
              <a:t>ORDER BY ‘Defect rates’ DESCLIMIT 10;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0BF041-84AC-B734-7A4A-FF2DD1FC65AB}"/>
              </a:ext>
            </a:extLst>
          </p:cNvPr>
          <p:cNvSpPr txBox="1">
            <a:spLocks/>
          </p:cNvSpPr>
          <p:nvPr/>
        </p:nvSpPr>
        <p:spPr>
          <a:xfrm>
            <a:off x="1024129" y="3790337"/>
            <a:ext cx="3626530" cy="58501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/>
              <a:t> Inventory Analysis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061CCC-5182-FB65-1CC2-6CDC4366E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858" y="3879397"/>
            <a:ext cx="2713703" cy="22488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4A57E1-79DF-B248-3820-9506D4129A0C}"/>
              </a:ext>
            </a:extLst>
          </p:cNvPr>
          <p:cNvSpPr txBox="1"/>
          <p:nvPr/>
        </p:nvSpPr>
        <p:spPr>
          <a:xfrm>
            <a:off x="1219200" y="4483063"/>
            <a:ext cx="5140037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SKU,’Stock</a:t>
            </a:r>
            <a:r>
              <a:rPr lang="en-US" dirty="0"/>
              <a:t> levels’</a:t>
            </a:r>
          </a:p>
          <a:p>
            <a:r>
              <a:rPr lang="en-US" dirty="0"/>
              <a:t>FROM </a:t>
            </a:r>
            <a:r>
              <a:rPr lang="en-US" dirty="0" err="1"/>
              <a:t>supply_chain_data</a:t>
            </a:r>
            <a:endParaRPr lang="en-US" dirty="0"/>
          </a:p>
          <a:p>
            <a:r>
              <a:rPr lang="en-US" dirty="0"/>
              <a:t>ORDER BY ‘Stock levels’ ASC;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218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0BE-4C7A-CFF0-F534-2DFFD02F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A5819-14A3-3D22-96FE-407D6C751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468" y="2084832"/>
            <a:ext cx="9340644" cy="421335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Objective:</a:t>
            </a:r>
            <a:r>
              <a:rPr lang="en-US" dirty="0"/>
              <a:t> Establish the foundation, size, and health of the dataset before diving into specific trends.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Core Content: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Dataset Profile:</a:t>
            </a:r>
            <a:r>
              <a:rPr lang="en-US" dirty="0"/>
              <a:t> 100 unique SKUs across 3 primary product categories (Skincare, Haircare, Cosmetics).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Key Variables Analyzed:</a:t>
            </a:r>
            <a:r>
              <a:rPr lang="en-US" dirty="0"/>
              <a:t> Revenue, Manufacturing Costs, Stock Levels, Lead Times, Shipping Costs, and Defect Rates.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Data Integrity Checks:</a:t>
            </a:r>
            <a:r>
              <a:rPr lang="en-US" dirty="0"/>
              <a:t> Handled missing attributes and confirmed uniform structural types using Python (pandas).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/>
              <a:t>Structured database schema verification through MySQL queries to align transactional rows with supplier dimensions.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Key Visual/Layout:</a:t>
            </a:r>
            <a:r>
              <a:rPr lang="en-US" dirty="0"/>
              <a:t> A two-column structure. On the left, bulleted processing steps; on the right, a clean high-tech dataset summary card showing total rows, features, and target metrics.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235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AFBF-7070-37A3-247F-D16E76DB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performance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C4E1E-421A-BFBE-7F3E-035B003DA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809742"/>
            <a:ext cx="9720071" cy="1499617"/>
          </a:xfrm>
        </p:spPr>
        <p:txBody>
          <a:bodyPr/>
          <a:lstStyle/>
          <a:p>
            <a:r>
              <a:rPr lang="en-US" dirty="0"/>
              <a:t>It shows that while total revenue reached a strong </a:t>
            </a:r>
            <a:r>
              <a:rPr lang="en-US" b="1" dirty="0"/>
              <a:t>₹577.6K</a:t>
            </a:r>
            <a:r>
              <a:rPr lang="en-US" dirty="0"/>
              <a:t>, a low quality inspection pass rate of </a:t>
            </a:r>
            <a:r>
              <a:rPr lang="en-US" b="1" dirty="0"/>
              <a:t>23%</a:t>
            </a:r>
            <a:r>
              <a:rPr lang="en-US" dirty="0"/>
              <a:t> remains a major operational bottleneck.</a:t>
            </a:r>
            <a:endParaRPr lang="en-IN" dirty="0"/>
          </a:p>
        </p:txBody>
      </p:sp>
      <p:pic>
        <p:nvPicPr>
          <p:cNvPr id="4" name="Picture 3" descr="A screenshot of a number  AI-generated content may be incorrect.">
            <a:extLst>
              <a:ext uri="{FF2B5EF4-FFF2-40B4-BE49-F238E27FC236}">
                <a16:creationId xmlns:a16="http://schemas.microsoft.com/office/drawing/2014/main" id="{6BF10D5E-DF44-96D4-6C1A-0363643C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781" y="1955120"/>
            <a:ext cx="2919187" cy="2369004"/>
          </a:xfrm>
          <a:prstGeom prst="rect">
            <a:avLst/>
          </a:prstGeom>
        </p:spPr>
      </p:pic>
      <p:pic>
        <p:nvPicPr>
          <p:cNvPr id="5" name="Content Placeholder 10" descr="A screenshot of a credit card  AI-generated content may be incorrect.">
            <a:extLst>
              <a:ext uri="{FF2B5EF4-FFF2-40B4-BE49-F238E27FC236}">
                <a16:creationId xmlns:a16="http://schemas.microsoft.com/office/drawing/2014/main" id="{BA4C84A0-65BF-F5B1-438A-15735B500EFF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207" y="1955119"/>
            <a:ext cx="2775610" cy="2213757"/>
          </a:xfrm>
          <a:prstGeom prst="rect">
            <a:avLst/>
          </a:prstGeom>
        </p:spPr>
      </p:pic>
      <p:pic>
        <p:nvPicPr>
          <p:cNvPr id="6" name="Picture 5" descr="A screenshot of a computer  AI-generated content may be incorrect.">
            <a:extLst>
              <a:ext uri="{FF2B5EF4-FFF2-40B4-BE49-F238E27FC236}">
                <a16:creationId xmlns:a16="http://schemas.microsoft.com/office/drawing/2014/main" id="{B46040A7-DDF5-7531-123E-ACF3B48FB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902" y="1955119"/>
            <a:ext cx="3159994" cy="213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05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F419-3F6F-D87D-C6B5-BCE9580B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Distribution by Product Category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CC101-9F03-154A-2EB3-BAEB9466B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504266"/>
            <a:ext cx="9720071" cy="1805093"/>
          </a:xfrm>
        </p:spPr>
        <p:txBody>
          <a:bodyPr>
            <a:normAutofit/>
          </a:bodyPr>
          <a:lstStyle/>
          <a:p>
            <a:r>
              <a:rPr lang="en-US" dirty="0"/>
              <a:t>Identifies the primary business driver. </a:t>
            </a:r>
            <a:r>
              <a:rPr lang="en-US" b="1" dirty="0"/>
              <a:t>Skincare</a:t>
            </a:r>
            <a:r>
              <a:rPr lang="en-US" dirty="0"/>
              <a:t> generates the most money (</a:t>
            </a:r>
            <a:r>
              <a:rPr lang="en-US" b="1" dirty="0"/>
              <a:t>₹241.6K</a:t>
            </a:r>
            <a:r>
              <a:rPr lang="en-US" dirty="0"/>
              <a:t> or ~42% of revenue), meaning any disruption in skincare suppliers poses the highest financial risk to the company.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B572E-58FE-168F-E411-58CB70D87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267" y="1845733"/>
            <a:ext cx="6908800" cy="247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14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053F-2C1C-5C68-3D06-09135E0D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Defect Rate by Manufacturing cost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DD18-8222-3A42-087D-CFDE14F5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961466"/>
            <a:ext cx="9720071" cy="1347893"/>
          </a:xfrm>
        </p:spPr>
        <p:txBody>
          <a:bodyPr>
            <a:normAutofit/>
          </a:bodyPr>
          <a:lstStyle/>
          <a:p>
            <a:r>
              <a:rPr lang="en-US" dirty="0"/>
              <a:t>Proves that cutting production budgets below Rs. 40 triggers a dangerous 4.9% spike in defects, while investing over Rs. 70 drops defects below 1.5%.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15E74-3E11-515A-5195-798702CC3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22" y="1763097"/>
            <a:ext cx="5520267" cy="31983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1069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77D6-BCC3-E943-443A-720C1F95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Quality Inspection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1488F-B266-C474-7171-93A766278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5198532"/>
            <a:ext cx="9720071" cy="1110827"/>
          </a:xfrm>
        </p:spPr>
        <p:txBody>
          <a:bodyPr/>
          <a:lstStyle/>
          <a:p>
            <a:r>
              <a:rPr lang="en-US" dirty="0"/>
              <a:t>Exposes a major pipeline problem. Over half of all items (</a:t>
            </a:r>
            <a:r>
              <a:rPr lang="en-US" b="1" dirty="0"/>
              <a:t>59%</a:t>
            </a:r>
            <a:r>
              <a:rPr lang="en-US" dirty="0"/>
              <a:t>) either fail inspection or are stuck in "Pending" status, which delays products from reaching the market and inflates warehouse costs.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94CB2-E9E4-07B0-0CB8-500B65290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300" y="1727201"/>
            <a:ext cx="4961467" cy="347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4513-6D28-AB8B-E916-1F77B807B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by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0A11-5B43-DE26-81AE-77EDC496B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5208852"/>
            <a:ext cx="9720071" cy="1100507"/>
          </a:xfrm>
        </p:spPr>
        <p:txBody>
          <a:bodyPr/>
          <a:lstStyle/>
          <a:p>
            <a:r>
              <a:rPr lang="en-US" dirty="0"/>
              <a:t>Shows top geographic markets. </a:t>
            </a:r>
            <a:r>
              <a:rPr lang="en-US" b="1" dirty="0"/>
              <a:t>Mumbai</a:t>
            </a:r>
            <a:r>
              <a:rPr lang="en-US" dirty="0"/>
              <a:t> and </a:t>
            </a:r>
            <a:r>
              <a:rPr lang="en-US" b="1" dirty="0"/>
              <a:t>Kolkata</a:t>
            </a:r>
            <a:r>
              <a:rPr lang="en-US" dirty="0"/>
              <a:t> drive over 44% of total sales, while </a:t>
            </a:r>
            <a:r>
              <a:rPr lang="en-US" b="1" dirty="0"/>
              <a:t>Delhi</a:t>
            </a:r>
            <a:r>
              <a:rPr lang="en-US" dirty="0"/>
              <a:t> represents the biggest untapped growth opportunity, trailing Mumbai by ₹55K.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38889-EC52-E1BE-F08B-AA3B6169F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045" y="1934293"/>
            <a:ext cx="6800156" cy="29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08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BCAD-C306-C0E1-02DC-CD58CE21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by Transportation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616B9-8648-058F-DBA3-4B0B17BE0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809742"/>
            <a:ext cx="9720071" cy="1499617"/>
          </a:xfrm>
        </p:spPr>
        <p:txBody>
          <a:bodyPr/>
          <a:lstStyle/>
          <a:p>
            <a:r>
              <a:rPr lang="en-US" dirty="0"/>
              <a:t>Focuses on shipping costs. </a:t>
            </a:r>
            <a:r>
              <a:rPr lang="en-US" b="1" dirty="0"/>
              <a:t>Air freight</a:t>
            </a:r>
            <a:r>
              <a:rPr lang="en-US" dirty="0"/>
              <a:t> is the most expensive method, while </a:t>
            </a:r>
            <a:r>
              <a:rPr lang="en-US" b="1" dirty="0"/>
              <a:t>Sea transport</a:t>
            </a:r>
            <a:r>
              <a:rPr lang="en-US" dirty="0"/>
              <a:t> is </a:t>
            </a:r>
            <a:r>
              <a:rPr lang="en-US" b="1" dirty="0"/>
              <a:t>31% cheaper</a:t>
            </a:r>
            <a:r>
              <a:rPr lang="en-US" dirty="0"/>
              <a:t>, proving we can save significant money by shifting non-urgent bulk cargo to the sea.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26B09-2ADB-407C-8B7C-B8C0BF4F04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667" y="1642533"/>
            <a:ext cx="8043333" cy="3130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3126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C644-CD5F-5B27-201A-28C1A83F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 &amp; Transport Cost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6412-CBA2-D04A-F0E0-B9A228822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5253292"/>
            <a:ext cx="9720071" cy="1056068"/>
          </a:xfrm>
        </p:spPr>
        <p:txBody>
          <a:bodyPr/>
          <a:lstStyle/>
          <a:p>
            <a:r>
              <a:rPr lang="en-US" dirty="0"/>
              <a:t>Identifies high-cost logistics paths. It shows exactly which distribution routes are over-relying on expensive transport modes, providing a clear map for route optimization.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44063-016E-ACF9-1B24-642EB1C8E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825" y="1938563"/>
            <a:ext cx="5442908" cy="298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07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2039-A12C-27CF-5B53-CF096BD4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Manufacturing Cost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095D-46E3-F39F-F550-BC406B31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504266"/>
            <a:ext cx="9720071" cy="1805093"/>
          </a:xfrm>
        </p:spPr>
        <p:txBody>
          <a:bodyPr/>
          <a:lstStyle/>
          <a:p>
            <a:r>
              <a:rPr lang="en-US" dirty="0"/>
              <a:t>Analyzes production costs against volume. The data reveals that manufacturing costs stay flat (~₹45) even when order sizes increase, proving the company is not yet achieving economies of scale.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D27CA-114D-FA9B-4736-975170896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200" y="1635083"/>
            <a:ext cx="4787333" cy="282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97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470E-2BC5-3E62-6C49-CAC277F0F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Cross-Functional Supply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985A-1180-E6B0-4098-A90211223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10321205" cy="42245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Integrating data across all dimensions reveals that ₹577.60K in revenue coexists with a 59% inspection failure/pending rate and wide supplier lead time variability.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Protecting High Revenue Areas - Skincare (40% of revenue) depends on suppliers with defect rates up to 2.7% — connecting quality failures to the highest-revenue category represents the single biggest risk.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Improvement Opportunities - Mumbai (₹130K) and Kolkata (₹125K) generate the most revenue but rely on transport modes costing ₹380–550 per shipment — route optimization here has the highest ROI.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Cross-Functional Collaboration - Cross-functional action: procurement renegotiating Supplier 5 SLAs, operations targeting 60% pass rate, and logistics shifting 40% of bulk to sea transport could collectively improve margins by 10–15%.</a:t>
            </a:r>
          </a:p>
        </p:txBody>
      </p:sp>
    </p:spTree>
    <p:extLst>
      <p:ext uri="{BB962C8B-B14F-4D97-AF65-F5344CB8AC3E}">
        <p14:creationId xmlns:p14="http://schemas.microsoft.com/office/powerpoint/2010/main" val="4111846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3111-7474-9486-F085-DFC3BB05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55D8C-B77C-1E60-D7DB-FA0493EC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786" y="1981200"/>
            <a:ext cx="3292233" cy="14996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KPI Cards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Revenue Charts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Supplier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CB08C1-B8C2-60E0-7A93-5F5CF1A30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679" y="3480816"/>
            <a:ext cx="5198166" cy="28288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B6D0F52-740E-3F22-022F-25DED4BF04C4}"/>
              </a:ext>
            </a:extLst>
          </p:cNvPr>
          <p:cNvSpPr txBox="1">
            <a:spLocks/>
          </p:cNvSpPr>
          <p:nvPr/>
        </p:nvSpPr>
        <p:spPr>
          <a:xfrm>
            <a:off x="5699625" y="1480581"/>
            <a:ext cx="3292233" cy="234007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Inventory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Shipping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Filters/Slicers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DA18AC-67C6-D7F1-F9A2-871031118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95" y="3483459"/>
            <a:ext cx="4944873" cy="282623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92947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9B20-3AF3-8D6D-EB4E-C488BA82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C598-1AAB-6589-F761-070186E6D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Electronics generated highest revenue.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Air transportation had highest shipping cost.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Inventory imbalance identified.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Supplier performance affected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Some products had higher defect rates.</a:t>
            </a:r>
            <a:endParaRPr lang="en-IN" dirty="0"/>
          </a:p>
        </p:txBody>
      </p:sp>
      <p:pic>
        <p:nvPicPr>
          <p:cNvPr id="4" name="Picture 3" descr="Master Supply Chain with Data Analytics-FORE">
            <a:extLst>
              <a:ext uri="{FF2B5EF4-FFF2-40B4-BE49-F238E27FC236}">
                <a16:creationId xmlns:a16="http://schemas.microsoft.com/office/drawing/2014/main" id="{46E1C59B-AAFA-3566-33F4-A449065C4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416" y="1956619"/>
            <a:ext cx="4938728" cy="3062011"/>
          </a:xfrm>
          <a:prstGeom prst="rect">
            <a:avLst/>
          </a:prstGeom>
          <a:effectLst>
            <a:softEdge rad="127000"/>
          </a:effectLst>
          <a:scene3d>
            <a:camera prst="perspective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85436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EDD3-01B6-0CE0-374C-FC8585CC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ConclusionS</a:t>
            </a:r>
            <a:r>
              <a:rPr lang="en-US" dirty="0"/>
              <a:t> &amp; </a:t>
            </a:r>
            <a:r>
              <a:rPr lang="en-US" dirty="0" err="1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56780-8D83-C12C-2157-E0F64AF0F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project successfully analyzed supply chain operations and identified important business insights using Python, SQL, and Power BI.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dashboard and reports can help improve operational efficiency and business decision-making.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Supplier:</a:t>
            </a:r>
            <a:r>
              <a:rPr lang="en-US" dirty="0"/>
              <a:t> Shift 10-15% volume from Supplier 5 to Supplier 1.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Inventory:</a:t>
            </a:r>
            <a:r>
              <a:rPr lang="en-US" dirty="0"/>
              <a:t> Implement ABC segmentation to address skincare overstocking.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Logistics:</a:t>
            </a:r>
            <a:r>
              <a:rPr lang="en-US" dirty="0"/>
              <a:t> Shift 40% of non-urgent bulk to Sea transport.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Strategy:</a:t>
            </a:r>
            <a:r>
              <a:rPr lang="en-US" dirty="0"/>
              <a:t> Increase inspection pass rate to 60% and target expansion in Delhi.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54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9FC66-81F6-ACD2-F2C6-9238011C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7FF2-F61E-566D-9C33-E2166AB8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300748"/>
            <a:ext cx="9720071" cy="42524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Machine Learning Integration:</a:t>
            </a:r>
            <a:r>
              <a:rPr lang="en-US" dirty="0"/>
              <a:t> Build predictive models (like Random Forest or </a:t>
            </a:r>
            <a:r>
              <a:rPr lang="en-US" dirty="0" err="1"/>
              <a:t>XGBoost</a:t>
            </a:r>
            <a:r>
              <a:rPr lang="en-US" dirty="0"/>
              <a:t>) to forecast consumer demand and automatically calculate safety stock.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IoT Warehouse Tracking:</a:t>
            </a:r>
            <a:r>
              <a:rPr lang="en-US" dirty="0"/>
              <a:t> Implement real-Fi sensor networks for live inventory updates to prevent critical stockouts completely.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Carbon Footprint Tracking:</a:t>
            </a:r>
            <a:r>
              <a:rPr lang="en-US" dirty="0"/>
              <a:t> Analyze eco-metrics to optimize transport routes, balancing fast delivery with environmental sustainability.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Supplier Risk Automation:</a:t>
            </a:r>
            <a:r>
              <a:rPr lang="en-US" dirty="0"/>
              <a:t> Create an automated early-warning alert system inside the dashboard to flag suppliers whose defect rates cross the 2% threshold.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527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F47B-07EE-75A6-AF56-3050F78E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765" y="2520357"/>
            <a:ext cx="9540433" cy="1499616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1C9508-C312-E957-BFAE-D35CDF9B2BD7}"/>
              </a:ext>
            </a:extLst>
          </p:cNvPr>
          <p:cNvSpPr/>
          <p:nvPr/>
        </p:nvSpPr>
        <p:spPr>
          <a:xfrm>
            <a:off x="5347449" y="1335024"/>
            <a:ext cx="1253067" cy="118533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Cooper Black" panose="0208090404030B020404" pitchFamily="18" charset="0"/>
              </a:rPr>
              <a:t>?</a:t>
            </a:r>
            <a:endParaRPr lang="en-IN" sz="7200" dirty="0"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8B6B0-44BF-C177-0B3B-B8BE12C85C92}"/>
              </a:ext>
            </a:extLst>
          </p:cNvPr>
          <p:cNvSpPr txBox="1"/>
          <p:nvPr/>
        </p:nvSpPr>
        <p:spPr>
          <a:xfrm>
            <a:off x="2963333" y="4019973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gency FB" panose="020B0503020202020204" pitchFamily="34" charset="0"/>
              </a:rPr>
              <a:t>Questions &amp; Discussion</a:t>
            </a:r>
            <a:endParaRPr lang="en-IN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4104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559</TotalTime>
  <Words>1168</Words>
  <Application>Microsoft Office PowerPoint</Application>
  <PresentationFormat>Widescreen</PresentationFormat>
  <Paragraphs>111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Agency FB</vt:lpstr>
      <vt:lpstr>Cooper Black</vt:lpstr>
      <vt:lpstr>Times New Roman</vt:lpstr>
      <vt:lpstr>Tw Cen MT</vt:lpstr>
      <vt:lpstr>Tw Cen MT Condensed</vt:lpstr>
      <vt:lpstr>Wingdings</vt:lpstr>
      <vt:lpstr>Wingdings 3</vt:lpstr>
      <vt:lpstr>Integral</vt:lpstr>
      <vt:lpstr>Title: CDACL-003: Supply Chain Analysis</vt:lpstr>
      <vt:lpstr>Project Objective</vt:lpstr>
      <vt:lpstr>Technologies Used</vt:lpstr>
      <vt:lpstr>Database connection</vt:lpstr>
      <vt:lpstr>Dataset Description</vt:lpstr>
      <vt:lpstr>Data Cleaning</vt:lpstr>
      <vt:lpstr>SQL Analysis</vt:lpstr>
      <vt:lpstr>PowerPoint Presentation</vt:lpstr>
      <vt:lpstr>PowerPoint Presentation</vt:lpstr>
      <vt:lpstr>Exploratory Data Analysis (EDA)</vt:lpstr>
      <vt:lpstr>Executive performance overview</vt:lpstr>
      <vt:lpstr>Revenue Distribution by Product Category</vt:lpstr>
      <vt:lpstr>Defect Rate by Manufacturing cost</vt:lpstr>
      <vt:lpstr>Quality Inspection Outcomes</vt:lpstr>
      <vt:lpstr>Revenue by Location</vt:lpstr>
      <vt:lpstr>Cost by Transportation Mode</vt:lpstr>
      <vt:lpstr>Route &amp; Transport Cost Analysis</vt:lpstr>
      <vt:lpstr>Manufacturing Cost Efficiency</vt:lpstr>
      <vt:lpstr>Cross-Functional Supply Insights</vt:lpstr>
      <vt:lpstr>Power BI Dashboard Features</vt:lpstr>
      <vt:lpstr>Insights</vt:lpstr>
      <vt:lpstr>ConclusionS &amp; rECOMMENDATIONS</vt:lpstr>
      <vt:lpstr>Future scope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GUPTA</dc:creator>
  <cp:lastModifiedBy>ROHIT GUPTA</cp:lastModifiedBy>
  <cp:revision>39</cp:revision>
  <dcterms:created xsi:type="dcterms:W3CDTF">2026-05-15T07:39:26Z</dcterms:created>
  <dcterms:modified xsi:type="dcterms:W3CDTF">2026-05-25T06:43:12Z</dcterms:modified>
</cp:coreProperties>
</file>